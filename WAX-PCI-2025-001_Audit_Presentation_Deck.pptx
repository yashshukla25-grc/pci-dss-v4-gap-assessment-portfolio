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WhaleAX Financial Consulting Services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Assessment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02920" y="2651760"/>
            <a:ext cx="566928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Risk Analysis &amp; Remediation Roadmap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0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REF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WAX-PCI-2025-001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0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DATE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4087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0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VERSION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463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886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0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46320" y="4087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0D1F4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910328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D0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PCI DSS ASSESSMENT &amp; ASSURANCE PRACTICE  |  RESTRICTED DISTRIBUTION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42416"/>
            <a:ext cx="329184" cy="32918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Overview &amp; Methodology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13716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99616"/>
            <a:ext cx="329184" cy="32918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4630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Scope Definition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" y="18288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56816"/>
            <a:ext cx="329184" cy="329184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1920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Compliance Posture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" y="22860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14016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3774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&amp; High-Risk Findings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" y="27432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71216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8346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Requirement-by-Requirement Summary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" y="32004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328416"/>
            <a:ext cx="329184" cy="329184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2918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 Risk Matrix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" y="36576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85616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7490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Roadmap &amp; Action Plan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1792" y="41148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242816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206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1792" y="4572000"/>
            <a:ext cx="0" cy="109728"/>
          </a:xfrm>
          <a:prstGeom prst="line">
            <a:avLst/>
          </a:prstGeom>
          <a:noFill/>
          <a:ln w="19050">
            <a:solidFill>
              <a:srgbClr val="D0D7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700016"/>
            <a:ext cx="329184" cy="32918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46634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Five-phase approach aligned with PCI DSS v4.0 Assessment Procedures and ISO 27001 audit methodology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1554480" cy="21031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01368" y="2194560"/>
            <a:ext cx="182880" cy="18288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11" name="Shape 9"/>
          <p:cNvSpPr/>
          <p:nvPr/>
        </p:nvSpPr>
        <p:spPr>
          <a:xfrm>
            <a:off x="1984248" y="1280160"/>
            <a:ext cx="1554480" cy="210312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84248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84248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75688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57016" y="2194560"/>
            <a:ext cx="182880" cy="18288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16" name="Shape 14"/>
          <p:cNvSpPr/>
          <p:nvPr/>
        </p:nvSpPr>
        <p:spPr>
          <a:xfrm>
            <a:off x="3739896" y="1280160"/>
            <a:ext cx="1554480" cy="21031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9896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739896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12664" y="2194560"/>
            <a:ext cx="182880" cy="18288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21" name="Shape 19"/>
          <p:cNvSpPr/>
          <p:nvPr/>
        </p:nvSpPr>
        <p:spPr>
          <a:xfrm>
            <a:off x="5495544" y="1280160"/>
            <a:ext cx="1554480" cy="2103120"/>
          </a:xfrm>
          <a:prstGeom prst="rect">
            <a:avLst/>
          </a:prstGeom>
          <a:solidFill>
            <a:srgbClr val="CC55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95544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95544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86984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68312" y="2194560"/>
            <a:ext cx="182880" cy="18288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1192" y="1280160"/>
            <a:ext cx="1554480" cy="210312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51192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251192" y="18105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42632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520440"/>
            <a:ext cx="8595360" cy="274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53872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METHODS APPLIED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096512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policies, procedures, configurations, log samples and documentation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50592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50592" y="4096512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interviews with system owners, process owners, and IT admins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26864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26864" y="4096512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observation of processes, system demonstrations and operations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03136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03136" y="4096512"/>
            <a:ext cx="20116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testing: vulnerability scans, configuration reviews, architecture validation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Environment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ENVIRONMENT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Production VPC (us-east-1)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1298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CDE Environment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WAX-APP-01 / WAX-APP-02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1554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Servers (EC2)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8105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WAX-DB-01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51760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– Transaction DB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0665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WAX-FW-01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2066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Network Firewall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322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WAX-VPN-01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322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 Gateway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578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WAX-SIEM-01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25786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SIEM Platform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8346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WAX-MFA-01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8346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MFA (SaaS)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0906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WAX-LOG-01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090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 Logging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3467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WAX-VULN-01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51760" y="33467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Tenable.io (SaaS)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6027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WAX-IAM-01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36027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8587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AW-001 – AW-025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38587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Analyst Workstations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914400"/>
            <a:ext cx="4251960" cy="393192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PARAMETERS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325880"/>
            <a:ext cx="1920240" cy="1097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470916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Requirements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1325880"/>
            <a:ext cx="1920240" cy="109728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1417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76656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560320"/>
            <a:ext cx="1920240" cy="109728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09160" y="2651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4709160" y="3218688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560320"/>
            <a:ext cx="1920240" cy="10972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66560" y="2651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6766560" y="3218688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3794760"/>
            <a:ext cx="4023360" cy="438912"/>
          </a:xfrm>
          <a:prstGeom prst="rect">
            <a:avLst/>
          </a:prstGeom>
          <a:solidFill>
            <a:srgbClr val="FDDED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 in scope: PAN | CVV | Track Data | PIN | SAD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794760"/>
            <a:ext cx="4023360" cy="438912"/>
          </a:xfrm>
          <a:prstGeom prst="rect">
            <a:avLst/>
          </a:prstGeom>
          <a:solidFill>
            <a:srgbClr val="FDDEDE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38404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NOT in scope: PAN | CVV | Track Data | PIN | SAD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Compliance Posture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COMPLIANCE SCORE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743200" cy="2743200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8961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STATUS BREAKDOWN (251 controls)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0" y="1261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536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controls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0" y="1298448"/>
            <a:ext cx="3566160" cy="32004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13" name="Shape 11"/>
          <p:cNvSpPr/>
          <p:nvPr/>
        </p:nvSpPr>
        <p:spPr>
          <a:xfrm>
            <a:off x="5212080" y="1298448"/>
            <a:ext cx="1604772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8823960" y="1298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1975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249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controls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2011680"/>
            <a:ext cx="3566160" cy="32004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18" name="Shape 16"/>
          <p:cNvSpPr/>
          <p:nvPr/>
        </p:nvSpPr>
        <p:spPr>
          <a:xfrm>
            <a:off x="5212080" y="2011680"/>
            <a:ext cx="962863" cy="32004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19" name="Text 17"/>
          <p:cNvSpPr/>
          <p:nvPr/>
        </p:nvSpPr>
        <p:spPr>
          <a:xfrm>
            <a:off x="8823960" y="2011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6883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29626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controls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2724912"/>
            <a:ext cx="3566160" cy="32004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23" name="Shape 21"/>
          <p:cNvSpPr/>
          <p:nvPr/>
        </p:nvSpPr>
        <p:spPr>
          <a:xfrm>
            <a:off x="5212080" y="2724912"/>
            <a:ext cx="748894" cy="3200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34015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36758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controls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3438144"/>
            <a:ext cx="3566160" cy="320040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28" name="Shape 26"/>
          <p:cNvSpPr/>
          <p:nvPr/>
        </p:nvSpPr>
        <p:spPr>
          <a:xfrm>
            <a:off x="5212080" y="3438144"/>
            <a:ext cx="249631" cy="3200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9" name="Text 27"/>
          <p:cNvSpPr/>
          <p:nvPr/>
        </p:nvSpPr>
        <p:spPr>
          <a:xfrm>
            <a:off x="8823960" y="34381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841248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0416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STATUS AT A GLANCE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6576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7442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36" name="Text 34"/>
          <p:cNvSpPr/>
          <p:nvPr/>
        </p:nvSpPr>
        <p:spPr>
          <a:xfrm>
            <a:off x="107442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7442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78308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39" name="Text 37"/>
          <p:cNvSpPr/>
          <p:nvPr/>
        </p:nvSpPr>
        <p:spPr>
          <a:xfrm>
            <a:off x="178308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78308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91740" y="4297680"/>
            <a:ext cx="658368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249174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49174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5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0040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09060" y="4297680"/>
            <a:ext cx="658368" cy="640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390906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90906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17720" y="4297680"/>
            <a:ext cx="658368" cy="640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461772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7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1772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2638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54" name="Text 52"/>
          <p:cNvSpPr/>
          <p:nvPr/>
        </p:nvSpPr>
        <p:spPr>
          <a:xfrm>
            <a:off x="532638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8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32638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3504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57" name="Text 55"/>
          <p:cNvSpPr/>
          <p:nvPr/>
        </p:nvSpPr>
        <p:spPr>
          <a:xfrm>
            <a:off x="603504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03504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43700" y="4297680"/>
            <a:ext cx="658368" cy="640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74370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10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74370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4297680"/>
            <a:ext cx="658368" cy="6400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63" name="Text 61"/>
          <p:cNvSpPr/>
          <p:nvPr/>
        </p:nvSpPr>
        <p:spPr>
          <a:xfrm>
            <a:off x="745236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11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45236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161020" y="4297680"/>
            <a:ext cx="658368" cy="64008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6" name="Text 64"/>
          <p:cNvSpPr/>
          <p:nvPr/>
        </p:nvSpPr>
        <p:spPr>
          <a:xfrm>
            <a:off x="8161020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12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161020" y="4544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1920240" cy="1417320"/>
          </a:xfrm>
          <a:prstGeom prst="rect">
            <a:avLst/>
          </a:prstGeom>
          <a:solidFill>
            <a:srgbClr val="FDDED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96112"/>
            <a:ext cx="1920240" cy="3200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 required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896112"/>
            <a:ext cx="1920240" cy="1417320"/>
          </a:xfrm>
          <a:prstGeom prst="rect">
            <a:avLst/>
          </a:prstGeom>
          <a:solidFill>
            <a:srgbClr val="FFF0E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896112"/>
            <a:ext cx="1920240" cy="320040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2161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C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487168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 remediation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896112"/>
            <a:ext cx="1920240" cy="1417320"/>
          </a:xfrm>
          <a:prstGeom prst="rect">
            <a:avLst/>
          </a:prstGeom>
          <a:solidFill>
            <a:srgbClr val="FFFBE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896112"/>
            <a:ext cx="1920240" cy="32004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08576" y="12161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608576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90–180 day remediation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9984" y="896112"/>
            <a:ext cx="1920240" cy="141732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896112"/>
            <a:ext cx="1920240" cy="3200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729984" y="896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9984" y="121615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729984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effort / next cycle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423160"/>
            <a:ext cx="85953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441448"/>
            <a:ext cx="8229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" y="2441448"/>
            <a:ext cx="46634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Req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0" y="2441448"/>
            <a:ext cx="10972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772400" y="2441448"/>
            <a:ext cx="10972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Date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2715768"/>
            <a:ext cx="8595360" cy="274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71576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3000" y="2715768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Patch Remediation SLA Breach (3 CVEs, 41–97 days overdue)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06440" y="2715768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6.3.3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75120" y="2743200"/>
            <a:ext cx="1097280" cy="21945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27432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818120" y="2715768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14, 2025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008376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008376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43000" y="3008376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Review Evidence Missing – Q4 2024 &amp; Q1 2025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06440" y="3008376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1.3.2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675120" y="3035808"/>
            <a:ext cx="1097280" cy="21945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30358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818120" y="3008376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28, 2025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300984"/>
            <a:ext cx="8595360" cy="274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3300984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43000" y="3300984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Analyst DB Privileges – 14/25 accounts over-provisioned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806440" y="3300984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7.2.1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75120" y="3328416"/>
            <a:ext cx="1097280" cy="21945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33284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818120" y="3300984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28, 2025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593592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" y="3593592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43000" y="3593592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Validation Not Performed (12 months)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806440" y="3593592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1.4.2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75120" y="3621024"/>
            <a:ext cx="1097280" cy="21945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57" name="Text 55"/>
          <p:cNvSpPr/>
          <p:nvPr/>
        </p:nvSpPr>
        <p:spPr>
          <a:xfrm>
            <a:off x="6675120" y="36210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818120" y="3593592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14, 2025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4320" y="3886200"/>
            <a:ext cx="8595360" cy="274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3886200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F-005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43000" y="3886200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Daily Log Review Procedure or Evidence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06440" y="3886200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10.4.1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675120" y="3913632"/>
            <a:ext cx="1097280" cy="21945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64" name="Text 62"/>
          <p:cNvSpPr/>
          <p:nvPr/>
        </p:nvSpPr>
        <p:spPr>
          <a:xfrm>
            <a:off x="6675120" y="39136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818120" y="3886200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30, 2025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4178808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20040" y="4178808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F-006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143000" y="4178808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 Account Credentials – 3 Accounts Affected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806440" y="4178808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8.2.2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675120" y="4206240"/>
            <a:ext cx="1097280" cy="21945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71" name="Text 69"/>
          <p:cNvSpPr/>
          <p:nvPr/>
        </p:nvSpPr>
        <p:spPr>
          <a:xfrm>
            <a:off x="6675120" y="4206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7818120" y="4178808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14, 2025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74320" y="4471416"/>
            <a:ext cx="8595360" cy="27432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4" name="Text 72"/>
          <p:cNvSpPr/>
          <p:nvPr/>
        </p:nvSpPr>
        <p:spPr>
          <a:xfrm>
            <a:off x="320040" y="4471416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F-007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143000" y="4471416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Vulnerability Remediation Tracking – No Ageing Report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806440" y="4471416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11.3.1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675120" y="4498848"/>
            <a:ext cx="1097280" cy="21945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78" name="Text 76"/>
          <p:cNvSpPr/>
          <p:nvPr/>
        </p:nvSpPr>
        <p:spPr>
          <a:xfrm>
            <a:off x="6675120" y="44988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7818120" y="4471416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30, 2025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" y="4764024"/>
            <a:ext cx="8595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320040" y="4764024"/>
            <a:ext cx="777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F-009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143000" y="4764024"/>
            <a:ext cx="4617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 Below 12-Month PCI DSS Minimum (9 months/90 days)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806440" y="4764024"/>
            <a:ext cx="868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10.5.1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675120" y="4791456"/>
            <a:ext cx="1097280" cy="21945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85" name="Text 83"/>
          <p:cNvSpPr/>
          <p:nvPr/>
        </p:nvSpPr>
        <p:spPr>
          <a:xfrm>
            <a:off x="6675120" y="47914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818120" y="4764024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14, 2025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859536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201168" cy="12984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69264"/>
            <a:ext cx="5943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92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43000" y="969264"/>
            <a:ext cx="82296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96926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6.3.3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57400" y="950976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Patch Remediation SLA Breach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31673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CVEs (CVSS 9.8–9.9) unpatched on WAX-APP-01/02. Oldest: 97 days overdue. PCI DSS requires remediation within 30 days.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1682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Impact: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16824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remote code execution; unauthorized CDE access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6824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Action: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06440" y="16824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change management; deploy AWS WAF as interim control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1956816"/>
            <a:ext cx="8275320" cy="9144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286000"/>
            <a:ext cx="859536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86000"/>
            <a:ext cx="201168" cy="12984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359152"/>
            <a:ext cx="5943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35915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143000" y="2359152"/>
            <a:ext cx="82296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3591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1.3.2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57400" y="2340864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 Review Evidence Incomplete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270662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2024 review missing entirely. Q1 2025 review incomplete – no sign-off. 22 rules potentially obsolete and unreviewed.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0723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Impact: 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30723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inbound traffic may be permitted undetected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30723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Action: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30723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reviews; formal SOP; quarterly calendar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346704"/>
            <a:ext cx="8275320" cy="9144"/>
          </a:xfrm>
          <a:prstGeom prst="rect">
            <a:avLst/>
          </a:prstGeom>
          <a:solidFill>
            <a:srgbClr val="D0D7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675888"/>
            <a:ext cx="859536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75888"/>
            <a:ext cx="201168" cy="12984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3749040"/>
            <a:ext cx="5943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7490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F-003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143000" y="3749040"/>
            <a:ext cx="822960" cy="29260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3749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7.2.1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057400" y="3730752"/>
            <a:ext cx="6675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Analyst DB Privileges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" y="409651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25 analysts have READ/WRITE to DB (need READ only). 4 analysts hold DBA-level privileges. Shared service account credentials on 3 accounts.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4622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Impact: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25880" y="44622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data modification; insider threat exposure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0" y="44622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Action: 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44622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privilege revocation; RBAC model; access recertification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4736592"/>
            <a:ext cx="8275320" cy="9144"/>
          </a:xfrm>
          <a:prstGeom prst="rect">
            <a:avLst/>
          </a:prstGeom>
          <a:solidFill>
            <a:srgbClr val="D0D7E3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Requirement-by-Requirement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719072"/>
            <a:ext cx="621792" cy="146304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38912" y="4005072"/>
            <a:ext cx="182880" cy="1828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58368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78992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8992" y="1833372"/>
            <a:ext cx="621792" cy="134874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17" name="Text 15"/>
          <p:cNvSpPr/>
          <p:nvPr/>
        </p:nvSpPr>
        <p:spPr>
          <a:xfrm>
            <a:off x="1033272" y="157734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8992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33272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371600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792224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1792224" y="1650492"/>
            <a:ext cx="621792" cy="153162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25" name="Text 23"/>
          <p:cNvSpPr/>
          <p:nvPr/>
        </p:nvSpPr>
        <p:spPr>
          <a:xfrm>
            <a:off x="1746504" y="139446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92224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1792224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46504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Data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84832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30" name="Text 28"/>
          <p:cNvSpPr/>
          <p:nvPr/>
        </p:nvSpPr>
        <p:spPr>
          <a:xfrm>
            <a:off x="2084832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505456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Shape 30"/>
          <p:cNvSpPr/>
          <p:nvPr/>
        </p:nvSpPr>
        <p:spPr>
          <a:xfrm>
            <a:off x="2505456" y="1353312"/>
            <a:ext cx="621792" cy="1828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2459736" y="10972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05456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5" name="Text 33"/>
          <p:cNvSpPr/>
          <p:nvPr/>
        </p:nvSpPr>
        <p:spPr>
          <a:xfrm>
            <a:off x="2505456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59736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Transit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18688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8" name="Shape 36"/>
          <p:cNvSpPr/>
          <p:nvPr/>
        </p:nvSpPr>
        <p:spPr>
          <a:xfrm>
            <a:off x="3218688" y="1741932"/>
            <a:ext cx="621792" cy="144018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39" name="Text 37"/>
          <p:cNvSpPr/>
          <p:nvPr/>
        </p:nvSpPr>
        <p:spPr>
          <a:xfrm>
            <a:off x="3172968" y="14859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18688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3218688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172968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931920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4" name="Shape 42"/>
          <p:cNvSpPr/>
          <p:nvPr/>
        </p:nvSpPr>
        <p:spPr>
          <a:xfrm>
            <a:off x="3931920" y="2107692"/>
            <a:ext cx="621792" cy="10744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3886200" y="185166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931920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6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886200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005072" y="4005072"/>
            <a:ext cx="182880" cy="1828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4005072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224528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52" name="Text 50"/>
          <p:cNvSpPr/>
          <p:nvPr/>
        </p:nvSpPr>
        <p:spPr>
          <a:xfrm>
            <a:off x="4224528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45152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54" name="Shape 52"/>
          <p:cNvSpPr/>
          <p:nvPr/>
        </p:nvSpPr>
        <p:spPr>
          <a:xfrm>
            <a:off x="4645152" y="2290572"/>
            <a:ext cx="621792" cy="89154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4599432" y="203454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45152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7" name="Text 55"/>
          <p:cNvSpPr/>
          <p:nvPr/>
        </p:nvSpPr>
        <p:spPr>
          <a:xfrm>
            <a:off x="4645152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7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599432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718304" y="4005072"/>
            <a:ext cx="182880" cy="1828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4718304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937760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62" name="Text 60"/>
          <p:cNvSpPr/>
          <p:nvPr/>
        </p:nvSpPr>
        <p:spPr>
          <a:xfrm>
            <a:off x="4937760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358384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4" name="Shape 62"/>
          <p:cNvSpPr/>
          <p:nvPr/>
        </p:nvSpPr>
        <p:spPr>
          <a:xfrm>
            <a:off x="5358384" y="1901952"/>
            <a:ext cx="621792" cy="128016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65" name="Text 63"/>
          <p:cNvSpPr/>
          <p:nvPr/>
        </p:nvSpPr>
        <p:spPr>
          <a:xfrm>
            <a:off x="5312664" y="16459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358384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7" name="Text 65"/>
          <p:cNvSpPr/>
          <p:nvPr/>
        </p:nvSpPr>
        <p:spPr>
          <a:xfrm>
            <a:off x="5358384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8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312664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650992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70" name="Text 68"/>
          <p:cNvSpPr/>
          <p:nvPr/>
        </p:nvSpPr>
        <p:spPr>
          <a:xfrm>
            <a:off x="5650992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071616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2" name="Shape 70"/>
          <p:cNvSpPr/>
          <p:nvPr/>
        </p:nvSpPr>
        <p:spPr>
          <a:xfrm>
            <a:off x="6071616" y="1559052"/>
            <a:ext cx="621792" cy="16230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3" name="Text 71"/>
          <p:cNvSpPr/>
          <p:nvPr/>
        </p:nvSpPr>
        <p:spPr>
          <a:xfrm>
            <a:off x="6025896" y="13030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071616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5" name="Text 73"/>
          <p:cNvSpPr/>
          <p:nvPr/>
        </p:nvSpPr>
        <p:spPr>
          <a:xfrm>
            <a:off x="6071616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9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025896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784848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8" name="Shape 76"/>
          <p:cNvSpPr/>
          <p:nvPr/>
        </p:nvSpPr>
        <p:spPr>
          <a:xfrm>
            <a:off x="6784848" y="2130552"/>
            <a:ext cx="621792" cy="10515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9" name="Text 77"/>
          <p:cNvSpPr/>
          <p:nvPr/>
        </p:nvSpPr>
        <p:spPr>
          <a:xfrm>
            <a:off x="6739128" y="1874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784848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1" name="Text 79"/>
          <p:cNvSpPr/>
          <p:nvPr/>
        </p:nvSpPr>
        <p:spPr>
          <a:xfrm>
            <a:off x="6784848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6739128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077456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84" name="Text 82"/>
          <p:cNvSpPr/>
          <p:nvPr/>
        </p:nvSpPr>
        <p:spPr>
          <a:xfrm>
            <a:off x="7077456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7498080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86" name="Shape 84"/>
          <p:cNvSpPr/>
          <p:nvPr/>
        </p:nvSpPr>
        <p:spPr>
          <a:xfrm>
            <a:off x="7498080" y="1810512"/>
            <a:ext cx="621792" cy="1371600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87" name="Text 85"/>
          <p:cNvSpPr/>
          <p:nvPr/>
        </p:nvSpPr>
        <p:spPr>
          <a:xfrm>
            <a:off x="7452360" y="15544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498080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9" name="Text 87"/>
          <p:cNvSpPr/>
          <p:nvPr/>
        </p:nvSpPr>
        <p:spPr>
          <a:xfrm>
            <a:off x="7498080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11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452360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790688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92" name="Text 90"/>
          <p:cNvSpPr/>
          <p:nvPr/>
        </p:nvSpPr>
        <p:spPr>
          <a:xfrm>
            <a:off x="7790688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8211312" y="896112"/>
            <a:ext cx="621792" cy="22860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4" name="Shape 92"/>
          <p:cNvSpPr/>
          <p:nvPr/>
        </p:nvSpPr>
        <p:spPr>
          <a:xfrm>
            <a:off x="8211312" y="2153412"/>
            <a:ext cx="621792" cy="1028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5" name="Text 93"/>
          <p:cNvSpPr/>
          <p:nvPr/>
        </p:nvSpPr>
        <p:spPr>
          <a:xfrm>
            <a:off x="8165592" y="18973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8211312" y="3200400"/>
            <a:ext cx="621792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7" name="Text 95"/>
          <p:cNvSpPr/>
          <p:nvPr/>
        </p:nvSpPr>
        <p:spPr>
          <a:xfrm>
            <a:off x="8211312" y="32004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12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8165592" y="349300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Sec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503920" y="4005072"/>
            <a:ext cx="182880" cy="182880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100" name="Text 98"/>
          <p:cNvSpPr/>
          <p:nvPr/>
        </p:nvSpPr>
        <p:spPr>
          <a:xfrm>
            <a:off x="8503920" y="40050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74320" y="4297680"/>
            <a:ext cx="8595360" cy="62179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57200" y="4443984"/>
            <a:ext cx="164592" cy="1645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3" name="Text 101"/>
          <p:cNvSpPr/>
          <p:nvPr/>
        </p:nvSpPr>
        <p:spPr>
          <a:xfrm>
            <a:off x="658368" y="4407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(70%+)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2176272" y="4443984"/>
            <a:ext cx="164592" cy="164592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105" name="Text 103"/>
          <p:cNvSpPr/>
          <p:nvPr/>
        </p:nvSpPr>
        <p:spPr>
          <a:xfrm>
            <a:off x="2377440" y="4407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(50–69%)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895344" y="4443984"/>
            <a:ext cx="164592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7" name="Text 105"/>
          <p:cNvSpPr/>
          <p:nvPr/>
        </p:nvSpPr>
        <p:spPr>
          <a:xfrm>
            <a:off x="4096512" y="4407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(&lt;50%)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614416" y="4443984"/>
            <a:ext cx="164592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9" name="Text 107"/>
          <p:cNvSpPr/>
          <p:nvPr/>
        </p:nvSpPr>
        <p:spPr>
          <a:xfrm>
            <a:off x="5815584" y="4407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Critical Finding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333488" y="4443984"/>
            <a:ext cx="164592" cy="16459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111" name="Text 109"/>
          <p:cNvSpPr/>
          <p:nvPr/>
        </p:nvSpPr>
        <p:spPr>
          <a:xfrm>
            <a:off x="7534656" y="4407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High Finding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274320" y="2011680"/>
            <a:ext cx="365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LIKELIHOOD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05840" y="4462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77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(4)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44752" y="8961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(2)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44752" y="1097280"/>
            <a:ext cx="713232" cy="55778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8961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(3)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94560" y="1097280"/>
            <a:ext cx="713232" cy="55778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8961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(4)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44368" y="1097280"/>
            <a:ext cx="713232" cy="557784"/>
          </a:xfrm>
          <a:prstGeom prst="rect">
            <a:avLst/>
          </a:prstGeom>
          <a:solidFill>
            <a:srgbClr val="FFFA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8961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(5)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94176" y="109728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691640"/>
            <a:ext cx="777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(3)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44752" y="1691640"/>
            <a:ext cx="713232" cy="557784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691640"/>
            <a:ext cx="713232" cy="557784"/>
          </a:xfrm>
          <a:prstGeom prst="rect">
            <a:avLst/>
          </a:prstGeom>
          <a:solidFill>
            <a:srgbClr val="FFFA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4368" y="169164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94176" y="169164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286000"/>
            <a:ext cx="777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Unlikely (2)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44752" y="2286000"/>
            <a:ext cx="713232" cy="557784"/>
          </a:xfrm>
          <a:prstGeom prst="rect">
            <a:avLst/>
          </a:prstGeom>
          <a:solidFill>
            <a:srgbClr val="FFFA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4560" y="228600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44368" y="228600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2286000"/>
            <a:ext cx="713232" cy="557784"/>
          </a:xfrm>
          <a:prstGeom prst="rect">
            <a:avLst/>
          </a:prstGeom>
          <a:solidFill>
            <a:srgbClr val="FDDE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80360"/>
            <a:ext cx="777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(1)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444752" y="288036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880360"/>
            <a:ext cx="713232" cy="557784"/>
          </a:xfrm>
          <a:prstGeom prst="rect">
            <a:avLst/>
          </a:prstGeom>
          <a:solidFill>
            <a:srgbClr val="FFE8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44368" y="2880360"/>
            <a:ext cx="713232" cy="557784"/>
          </a:xfrm>
          <a:prstGeom prst="rect">
            <a:avLst/>
          </a:prstGeom>
          <a:solidFill>
            <a:srgbClr val="FDDE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94176" y="2880360"/>
            <a:ext cx="713232" cy="557784"/>
          </a:xfrm>
          <a:prstGeom prst="rect">
            <a:avLst/>
          </a:prstGeom>
          <a:solidFill>
            <a:srgbClr val="FDDED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91256" y="1266444"/>
            <a:ext cx="256032" cy="256032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3191256" y="1266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64408" y="1339596"/>
            <a:ext cx="256032" cy="256032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3264408" y="13395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37560" y="2007108"/>
            <a:ext cx="256032" cy="256032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2007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191256" y="1860804"/>
            <a:ext cx="256032" cy="256032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38" name="Text 36"/>
          <p:cNvSpPr/>
          <p:nvPr/>
        </p:nvSpPr>
        <p:spPr>
          <a:xfrm>
            <a:off x="3191256" y="18608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004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514600" y="1339596"/>
            <a:ext cx="256032" cy="256032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40" name="Text 38"/>
          <p:cNvSpPr/>
          <p:nvPr/>
        </p:nvSpPr>
        <p:spPr>
          <a:xfrm>
            <a:off x="2514600" y="13395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005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337560" y="2007108"/>
            <a:ext cx="256032" cy="256032"/>
          </a:xfrm>
          <a:prstGeom prst="ellipse">
            <a:avLst/>
          </a:prstGeom>
          <a:solidFill>
            <a:srgbClr val="9A7D0A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2007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191256" y="2455164"/>
            <a:ext cx="256032" cy="256032"/>
          </a:xfrm>
          <a:prstGeom prst="ellipse">
            <a:avLst/>
          </a:prstGeom>
          <a:solidFill>
            <a:srgbClr val="9A7D0A"/>
          </a:solidFill>
          <a:ln/>
        </p:spPr>
      </p:sp>
      <p:sp>
        <p:nvSpPr>
          <p:cNvPr id="44" name="Text 42"/>
          <p:cNvSpPr/>
          <p:nvPr/>
        </p:nvSpPr>
        <p:spPr>
          <a:xfrm>
            <a:off x="3191256" y="24551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009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29768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8961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1188720"/>
            <a:ext cx="530352" cy="3474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0" y="11887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38928" y="12070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Unpatched critical CVEs – CDE access risk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19872" y="1234440"/>
            <a:ext cx="731520" cy="2560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51" name="Text 49"/>
          <p:cNvSpPr/>
          <p:nvPr/>
        </p:nvSpPr>
        <p:spPr>
          <a:xfrm>
            <a:off x="8119872" y="1234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572000" y="1645920"/>
            <a:ext cx="530352" cy="34747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0" y="16459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38928" y="16642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changes undetected – incomplete reviews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119872" y="1691640"/>
            <a:ext cx="731520" cy="2560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56" name="Text 54"/>
          <p:cNvSpPr/>
          <p:nvPr/>
        </p:nvSpPr>
        <p:spPr>
          <a:xfrm>
            <a:off x="8119872" y="1691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572000" y="2103120"/>
            <a:ext cx="530352" cy="3474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0" y="21031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138928" y="21214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analyst access – insider threat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19872" y="2148840"/>
            <a:ext cx="731520" cy="2560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61" name="Text 59"/>
          <p:cNvSpPr/>
          <p:nvPr/>
        </p:nvSpPr>
        <p:spPr>
          <a:xfrm>
            <a:off x="8119872" y="2148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572000" y="2560320"/>
            <a:ext cx="530352" cy="34747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0" y="25603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38928" y="25786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log review – exfiltration undetected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119872" y="2606040"/>
            <a:ext cx="731520" cy="2560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66" name="Text 64"/>
          <p:cNvSpPr/>
          <p:nvPr/>
        </p:nvSpPr>
        <p:spPr>
          <a:xfrm>
            <a:off x="8119872" y="2606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572000" y="3017520"/>
            <a:ext cx="530352" cy="34747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0" y="30175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38928" y="30358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 credentials – account compromise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119872" y="3063240"/>
            <a:ext cx="731520" cy="2560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71" name="Text 69"/>
          <p:cNvSpPr/>
          <p:nvPr/>
        </p:nvSpPr>
        <p:spPr>
          <a:xfrm>
            <a:off x="8119872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572000" y="3474720"/>
            <a:ext cx="530352" cy="34747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0" y="34747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R-006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38928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vuln remediation – dwell time risk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119872" y="3520440"/>
            <a:ext cx="731520" cy="256032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76" name="Text 74"/>
          <p:cNvSpPr/>
          <p:nvPr/>
        </p:nvSpPr>
        <p:spPr>
          <a:xfrm>
            <a:off x="8119872" y="3520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572000" y="3931920"/>
            <a:ext cx="530352" cy="347472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0" y="39319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R-009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38928" y="3950208"/>
            <a:ext cx="29260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segmentation – lateral movement risk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119872" y="3977640"/>
            <a:ext cx="731520" cy="256032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81" name="Text 79"/>
          <p:cNvSpPr/>
          <p:nvPr/>
        </p:nvSpPr>
        <p:spPr>
          <a:xfrm>
            <a:off x="8119872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96112"/>
            <a:ext cx="2011680" cy="777240"/>
          </a:xfrm>
          <a:prstGeom prst="rect">
            <a:avLst/>
          </a:prstGeom>
          <a:solidFill>
            <a:srgbClr val="C0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011680" cy="3108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91640"/>
            <a:ext cx="201168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55648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F-001: Emergency patch CVE-2024-21413, CVE-2024-38077, CVE-2024-47176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505456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F-003: Revoke DBA privileges from 4 analyst accounts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255264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F-006: Reset &amp; individualize all service account credentials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4005072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F-002: Complete Q4 2024 &amp; Q1 2025 firewall rule reviews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50592" y="896112"/>
            <a:ext cx="2011680" cy="777240"/>
          </a:xfrm>
          <a:prstGeom prst="rect">
            <a:avLst/>
          </a:prstGeom>
          <a:solidFill>
            <a:srgbClr val="CC550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0592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0592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– 90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0592" y="1691640"/>
            <a:ext cx="2011680" cy="3108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2450592" y="1691640"/>
            <a:ext cx="2011680" cy="3657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1755648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F-009: Extend log retention to 12 months (SIEM + CloudWatch)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42032" y="2505456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F-005: Formalize daily log review SOP + evidence trail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42032" y="3255264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F-007: Implement vulnerability ageing report in Tenable.io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42032" y="4005072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F-004: Commission network segmentation penetration test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26864" y="896112"/>
            <a:ext cx="2011680" cy="777240"/>
          </a:xfrm>
          <a:prstGeom prst="rect">
            <a:avLst/>
          </a:prstGeom>
          <a:solidFill>
            <a:srgbClr val="9A7D0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26864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6864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– 180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Oct–Nov 2025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26864" y="1691640"/>
            <a:ext cx="2011680" cy="3108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6864" y="1691640"/>
            <a:ext cx="2011680" cy="36576"/>
          </a:xfrm>
          <a:prstGeom prst="rect">
            <a:avLst/>
          </a:prstGeom>
          <a:solidFill>
            <a:srgbClr val="9A7D0A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1755648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F-008: Apply CIS Benchmark Level 1 hardening to CDE systems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18304" y="2505456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F-010: Establish Third-Party Risk Management program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18304" y="3255264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F-013: Conduct Incident Response tabletop exercise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18304" y="4005072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MAP-018: Deploy Privileged Access Management (PAM) solution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03136" y="896112"/>
            <a:ext cx="2011680" cy="77724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03136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3136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 – 365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2025–Jun 2026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1691640"/>
            <a:ext cx="2011680" cy="3108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6" name="Shape 34"/>
          <p:cNvSpPr/>
          <p:nvPr/>
        </p:nvSpPr>
        <p:spPr>
          <a:xfrm>
            <a:off x="6803136" y="1691640"/>
            <a:ext cx="2011680" cy="365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6894576" y="1755648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F-015: Formalize physical access log review procedures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94576" y="2505456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MAP-020: AWS Config conformance packs for continuous monitoring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894576" y="3255264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 QSA for formal PCI DSS v4.0 ROC assessment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94576" y="4005072"/>
            <a:ext cx="1828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Achieve full certification compliance posture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1280160"/>
            <a:ext cx="8549640" cy="0"/>
          </a:xfrm>
          <a:prstGeom prst="line">
            <a:avLst/>
          </a:prstGeom>
          <a:noFill/>
          <a:ln w="12700">
            <a:solidFill>
              <a:srgbClr val="D0D7E3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20624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005840"/>
            <a:ext cx="310896" cy="3108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9875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Patch Management Cadence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389888"/>
            <a:ext cx="398678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AWS Systems Manager Patch Manager for automated baseline deployment. Define formal patch exception process with mandatory compensating controls and executive escalation for overdue critical CVEs.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20624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20624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4608" y="1005840"/>
            <a:ext cx="310896" cy="3108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05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98755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Formal RBAC &amp; Access Governance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4608" y="1389888"/>
            <a:ext cx="398678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documented Role-Based Access Control model. Conduct quarterly access recertification for all CDE accounts. Eliminate shared service credentials through PAM implementation.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13432"/>
            <a:ext cx="420624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13432"/>
            <a:ext cx="4206240" cy="3657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2404872"/>
            <a:ext cx="310896" cy="310896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23865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Logging &amp; Monitoring Program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2788920"/>
            <a:ext cx="398678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retention to 12 months across all log sources. Develop formal daily log review SOP with evidence retention. Implement SIEM alert-to-ticket workflow for critical security events.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313432"/>
            <a:ext cx="420624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13432"/>
            <a:ext cx="4206240" cy="3657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864608" y="2404872"/>
            <a:ext cx="310896" cy="310896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3865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Network Segmentation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2788920"/>
            <a:ext cx="398678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an annual network segmentation penetration test to validate CDE isolation. Formalize firewall rule review quarterly process with documented approval workflow and evidence retention.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12464"/>
            <a:ext cx="420624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12464"/>
            <a:ext cx="4206240" cy="36576"/>
          </a:xfrm>
          <a:prstGeom prst="rect">
            <a:avLst/>
          </a:prstGeom>
          <a:solidFill>
            <a:srgbClr val="CC5500"/>
          </a:solidFill>
          <a:ln/>
        </p:spPr>
      </p:sp>
      <p:sp>
        <p:nvSpPr>
          <p:cNvPr id="31" name="Shape 29"/>
          <p:cNvSpPr/>
          <p:nvPr/>
        </p:nvSpPr>
        <p:spPr>
          <a:xfrm>
            <a:off x="384048" y="3803904"/>
            <a:ext cx="310896" cy="310896"/>
          </a:xfrm>
          <a:prstGeom prst="ellipse">
            <a:avLst/>
          </a:prstGeom>
          <a:solidFill>
            <a:srgbClr val="CC5500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7856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Third-Party Risk Management Program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4048" y="4187952"/>
            <a:ext cx="398678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TPRM policy and vendor assessment questionnaire. Complete formal assessments of AWS, Okta, and Tenable.io. Document shared responsibility matrices for all key service providers.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712464"/>
            <a:ext cx="4206240" cy="1298448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12464"/>
            <a:ext cx="42062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7" name="Shape 35"/>
          <p:cNvSpPr/>
          <p:nvPr/>
        </p:nvSpPr>
        <p:spPr>
          <a:xfrm>
            <a:off x="4864608" y="3803904"/>
            <a:ext cx="310896" cy="310896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37856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QSA for Certification within 12 Months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64608" y="4187952"/>
            <a:ext cx="3986784" cy="768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completion of Phase 1–3 remediation activities, engage a Qualified Security Assessor (QSA) for a formal PCI DSS v4.0 Report on Compliance assessment targeting Q2 2026.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Q&amp;A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57200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 and sign-off on all 34 findings and risk ratings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Kickoff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 remediation kickoff meeting – within 5 business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651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Governance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34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steering committee meetings to track MAP progress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273552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73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291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Completion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4747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Critical findings remediated by July 31, 2025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913632"/>
            <a:ext cx="347472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9319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QSA Engagement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114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QSA selection process in Q4 2025 for Q2 2026 ROC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4736592"/>
            <a:ext cx="8979408" cy="251460"/>
          </a:xfrm>
          <a:prstGeom prst="rect">
            <a:avLst/>
          </a:prstGeom>
          <a:solidFill>
            <a:srgbClr val="0D1F42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75488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D0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WhaleAX Financial Consulting Services Pvt Ltd  |  PCI DSS v4.0 Gap Assessment  |  WAX-PCI-2025-001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PCI DSS v4.0 Gap Assessment – WAX-PCI-2025-001</dc:title>
  <dc:subject>WhaleAX Financial Consulting Services – PCI DSS Gap Assessment</dc:subject>
  <dc:creator>PCI DSS Assessment &amp; Assurance Practice</dc:creator>
  <cp:lastModifiedBy>PCI DSS Assessment &amp; Assurance Practice</cp:lastModifiedBy>
  <cp:revision>1</cp:revision>
  <dcterms:created xsi:type="dcterms:W3CDTF">2026-05-30T18:47:29Z</dcterms:created>
  <dcterms:modified xsi:type="dcterms:W3CDTF">2026-05-30T18:47:29Z</dcterms:modified>
</cp:coreProperties>
</file>